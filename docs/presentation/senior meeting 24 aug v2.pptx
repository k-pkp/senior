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5" r:id="rId17"/>
    <p:sldId id="257" r:id="rId7"/>
    <p:sldId id="258" r:id="rId8"/>
    <p:sldId id="259" r:id="rId9"/>
    <p:sldId id="260" r:id="rId10"/>
    <p:sldId id="261" r:id="rId11"/>
    <p:sldId id="266" r:id="rId18"/>
    <p:sldId id="262" r:id="rId12"/>
    <p:sldId id="263" r:id="rId13"/>
    <p:sldId id="264" r:id="rId14"/>
    <p:sldId id="267" r:id="rId19"/>
    <p:sldId id="268" r:id="rId20"/>
    <p:sldId id="269" r:id="rId21"/>
    <p:sldId id="270" r:id="rId22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3800000"/>
            <a:ext cx="162306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6000" b="1">
                <a:solidFill>
                  <a:srgbClr val="000000"/>
                </a:solidFill>
                <a:latin typeface="Canva Sans Bold"/>
              </a:rPr>
              <a:t>Measuring limb volume from six phone photos</a:t>
            </a:r>
          </a:p>
          <a:p>
            <a:pPr algn="l">
              <a:lnSpc>
                <a:spcPct val="115000"/>
              </a:lnSpc>
              <a:spcBef>
                <a:spcPts val="2200"/>
              </a:spcBef>
            </a:pPr>
            <a:r>
              <a:rPr sz="2600" b="0">
                <a:solidFill>
                  <a:srgbClr val="5A5A5A"/>
                </a:solidFill>
                <a:latin typeface="Canva Sans"/>
              </a:rPr>
              <a:t>A reworked VGGT pipeline — what changed, what it is worth, and one conclusion that was wrong</a:t>
            </a:r>
          </a:p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2000" b="0">
                <a:solidFill>
                  <a:srgbClr val="5A5A5A"/>
                </a:solidFill>
                <a:latin typeface="Canva Sans"/>
              </a:rPr>
              <a:t>Senior project · progress meeting · 24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764207"/>
            <a:ext cx="16230600" cy="1071585"/>
          </a:xfrm>
          <a:custGeom>
            <a:avLst/>
            <a:gdLst/>
            <a:ahLst/>
            <a:cxnLst/>
            <a:rect r="r" b="b" t="t" l="l"/>
            <a:pathLst>
              <a:path h="1037278" w="15710971">
                <a:moveTo>
                  <a:pt x="0" y="0"/>
                </a:moveTo>
                <a:lnTo>
                  <a:pt x="15710971" y="0"/>
                </a:lnTo>
                <a:lnTo>
                  <a:pt x="15710971" y="1037278"/>
                </a:lnTo>
                <a:lnTo>
                  <a:pt x="0" y="1037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WHERE IT STARTED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Before — six stages, nothing checked the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300000"/>
            <a:ext cx="16230600" cy="7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The photographs went straight to VGGT, which centre-crops them itself.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One reconstruction method, one fixed set of thresholds, no way to intervene.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The reference mesh never closed, so its volume was estimated by flooding a voxel grid — an approximation with no error signal when it leaks.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8700" y="86868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88392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5A5A5A"/>
                </a:solidFill>
                <a:latin typeface="Canva Sans"/>
              </a:rPr>
              <a:t>One pass, start to finish, with nothing between the photographs and a number.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794719"/>
            <a:ext cx="16230600" cy="1010561"/>
          </a:xfrm>
          <a:custGeom>
            <a:avLst/>
            <a:gdLst/>
            <a:ahLst/>
            <a:cxnLst/>
            <a:rect r="r" b="b" t="t" l="l"/>
            <a:pathLst>
              <a:path h="1001474" w="16084648">
                <a:moveTo>
                  <a:pt x="0" y="0"/>
                </a:moveTo>
                <a:lnTo>
                  <a:pt x="16084648" y="0"/>
                </a:lnTo>
                <a:lnTo>
                  <a:pt x="16084648" y="1001474"/>
                </a:lnTo>
                <a:lnTo>
                  <a:pt x="0" y="1001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WHERE IT IS NOW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After — seven stages, two can stop the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300000"/>
            <a:ext cx="16230600" cy="7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Stage 0 is new: it judges the capture before a GPU is touched.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Stage 3 measures the marker's colour from the capture instead of assuming it, and the cut waits for a human to confirm the plane.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Stage 4 chooses its method and Stage 5 proves the result is one closed solid — if it is not, Stage 4 is re-run with a method that cannot fail to close.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8700" y="86868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88392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5A5A5A"/>
                </a:solidFill>
                <a:latin typeface="Canva Sans"/>
              </a:rPr>
              <a:t>Every stage writes its own directory, so any one of them can be re-run without repeating the rest.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2620" y="1600200"/>
            <a:ext cx="9729160" cy="7886700"/>
          </a:xfrm>
          <a:custGeom>
            <a:avLst/>
            <a:gdLst/>
            <a:ahLst/>
            <a:cxnLst/>
            <a:rect r="r" b="b" t="t" l="l"/>
            <a:pathLst>
              <a:path h="8283084" w="10218146">
                <a:moveTo>
                  <a:pt x="0" y="0"/>
                </a:moveTo>
                <a:lnTo>
                  <a:pt x="10218146" y="0"/>
                </a:lnTo>
                <a:lnTo>
                  <a:pt x="10218146" y="8283084"/>
                </a:lnTo>
                <a:lnTo>
                  <a:pt x="0" y="8283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0 · FRAMING GATE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A capture can now be refused before any of it is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400300"/>
            <a:ext cx="48006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VGGT crops a 9:16 photo to a square and discards 43.8% of it, with no regard for where the reference cube is.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On IMG_4462 that cuts 16% off the cube — and the cube sets the scale for every number the run reports. A truncated cube still reconstructs; it just reconstructs smaller.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Stage 0 places its own window: 100% of the cube on all five frames it can crop.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C06300"/>
                </a:solidFill>
                <a:latin typeface="Canva Sans"/>
              </a:rPr>
              <a:t>•  Three verdicts. IMG_4458 is a warning, not a rejection — a square holding the cube exists, but none holds the cube and the band together, so the frame is measured through VGGT's crop and the report says so.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2370654"/>
            <a:ext cx="10744200" cy="6345792"/>
          </a:xfrm>
          <a:custGeom>
            <a:avLst/>
            <a:gdLst/>
            <a:ahLst/>
            <a:cxnLst/>
            <a:rect r="r" b="b" t="t" l="l"/>
            <a:pathLst>
              <a:path h="6597917" w="11171077">
                <a:moveTo>
                  <a:pt x="0" y="0"/>
                </a:moveTo>
                <a:lnTo>
                  <a:pt x="11171077" y="0"/>
                </a:lnTo>
                <a:lnTo>
                  <a:pt x="11171077" y="6597917"/>
                </a:lnTo>
                <a:lnTo>
                  <a:pt x="0" y="659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3 · WHERE TO CUT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The marker's colour is measured,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400300"/>
            <a:ext cx="48006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main used a hardcoded khaki window that never looked at the photographs.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Tracing only the cord's darkest pixel finds 45 points, and the cut it fits tilts 27.1° from vertical.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Dilating the trace by ±3 px finds 296 — 6.6× more evidence — and the cut tilts 19.0°, matching the limb's own 19.0° lean.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5A5A5A"/>
                </a:solidFill>
                <a:latin typeface="Canva Sans"/>
              </a:rPr>
              <a:t>•  The cut plane sets where the limb ends. A plane fitted to 45 points is the difference between measuring the calf and measuring part of the ankle.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2508314"/>
            <a:ext cx="10744200" cy="6070472"/>
          </a:xfrm>
          <a:custGeom>
            <a:avLst/>
            <a:gdLst/>
            <a:ahLst/>
            <a:cxnLst/>
            <a:rect r="r" b="b" t="t" l="l"/>
            <a:pathLst>
              <a:path h="6532844" w="11562556">
                <a:moveTo>
                  <a:pt x="0" y="0"/>
                </a:moveTo>
                <a:lnTo>
                  <a:pt x="11562556" y="0"/>
                </a:lnTo>
                <a:lnTo>
                  <a:pt x="11562556" y="6532845"/>
                </a:lnTo>
                <a:lnTo>
                  <a:pt x="0" y="6532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3 · THE GHOST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VGGT emits the same surface more than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400300"/>
            <a:ext cx="48006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Each camera group registers the limb slightly differently, so the shell arrives about 2.7 mm thick instead of thin.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Voxel downsampling collapses 6.4 points per voxel into one: 114,282 → 17,979 points. That ratio is the measurement of how duplicated the surface was.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normal_aware_filter then removes only 535 stragglers — 2.9%.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MLS deletes nothing at all and still halves the shell: 1.63 mm → 0.66 mm RMS.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2102049"/>
            <a:ext cx="10744200" cy="6883002"/>
          </a:xfrm>
          <a:custGeom>
            <a:avLst/>
            <a:gdLst/>
            <a:ahLst/>
            <a:cxnLst/>
            <a:rect r="r" b="b" t="t" l="l"/>
            <a:pathLst>
              <a:path h="6718312" w="10487122">
                <a:moveTo>
                  <a:pt x="0" y="0"/>
                </a:moveTo>
                <a:lnTo>
                  <a:pt x="10487121" y="0"/>
                </a:lnTo>
                <a:lnTo>
                  <a:pt x="10487121" y="6718313"/>
                </a:lnTo>
                <a:lnTo>
                  <a:pt x="0" y="671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3 · SMOOTHING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MLS has to be quadratic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400300"/>
            <a:ext cx="48006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MLS projects each point onto a surface fitted to its neighbours. Fit a plane to a curved limb and the plane sits inside it, so the outline shrinks.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On this slice: plane MLS loses 1.36% of the cross-section area, quadratic MLS 0.05%.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Across 40 slices the gap is +1.10 pp and positive in 100% of them — not noise.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Both collapse the shell equally well. Only the quadratic keeps the shape.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3186541"/>
            <a:ext cx="10744200" cy="4714017"/>
          </a:xfrm>
          <a:custGeom>
            <a:avLst/>
            <a:gdLst/>
            <a:ahLst/>
            <a:cxnLst/>
            <a:rect r="r" b="b" t="t" l="l"/>
            <a:pathLst>
              <a:path h="5740706" w="13084230">
                <a:moveTo>
                  <a:pt x="0" y="0"/>
                </a:moveTo>
                <a:lnTo>
                  <a:pt x="13084230" y="0"/>
                </a:lnTo>
                <a:lnTo>
                  <a:pt x="13084230" y="5740705"/>
                </a:lnTo>
                <a:lnTo>
                  <a:pt x="0" y="574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4 · THE GUARANTEE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α is chosen by closure, not by eye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400300"/>
            <a:ext cx="48006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The ladder runs α from 8× to 200× the mean point spacing and takes the smallest α that is watertight and has Euler characteristic χ = 2.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χ = 2 − 2g, so χ = 2 means genus 0: one closed surface with no handles. It is the only case where 'the volume enclosed' is defined at all.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Below the mark the surface is riddled with holes — χ reaches −2876 — and no signed volume exists.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A6E2E"/>
                </a:solidFill>
                <a:latin typeface="Canva Sans"/>
              </a:rPr>
              <a:t>•  Because the ladder selects on χ, it cannot fail to produce χ = 2. That is exactly what makes alpha shape the fallback in the pipeline that ships.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2374011"/>
            <a:ext cx="10744200" cy="6339078"/>
          </a:xfrm>
          <a:custGeom>
            <a:avLst/>
            <a:gdLst/>
            <a:ahLst/>
            <a:cxnLst/>
            <a:rect r="r" b="b" t="t" l="l"/>
            <a:pathLst>
              <a:path h="6596358" w="11180267">
                <a:moveTo>
                  <a:pt x="0" y="0"/>
                </a:moveTo>
                <a:lnTo>
                  <a:pt x="11180268" y="0"/>
                </a:lnTo>
                <a:lnTo>
                  <a:pt x="11180268" y="6596358"/>
                </a:lnTo>
                <a:lnTo>
                  <a:pt x="0" y="659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4 · THE COMPARISON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Three methods, same points, wrong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400300"/>
            <a:ext cx="48006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Ball pivoting interpolates every input point exactly — p95 distance 0.00 mm — and still reports +30.3%. Looking right is not being right.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Poisson fitted the points closest (1.02 mm) but came out of the pipeline at χ = 0 with 11 components. So alpha shape was chosen.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C06300"/>
                </a:solidFill>
                <a:latin typeface="Canva Sans"/>
              </a:rPr>
              <a:t>•  That conclusion was wrong, and it was wrong for a reason worth showing: the defect was not in Poisson.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8700" y="86868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88392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C06300"/>
                </a:solidFill>
                <a:latin typeface="Canva Sans"/>
              </a:rPr>
              <a:t>The figure is exactly as it was measured. What it concludes no longer holds, and the next slide is why.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THE PROBLEM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Six phone photos in, a volume in cm³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590800"/>
            <a:ext cx="16230600" cy="699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0">
                <a:solidFill>
                  <a:srgbClr val="000000"/>
                </a:solidFill>
                <a:latin typeface="Canva Sans"/>
              </a:rPr>
              <a:t>•  Input: 6 to 12 photographs of a limb standing beside a 14 cm ArUco cube.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200" b="0">
                <a:solidFill>
                  <a:srgbClr val="000000"/>
                </a:solidFill>
                <a:latin typeface="Canva Sans"/>
              </a:rPr>
              <a:t>•  VGGT reconstructs the scene as a point cloud. The cube is the only thing in the frame whose size is known, so it supplies the real-world scale — 2744 cm³ by construction, 14³.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200" b="0">
                <a:solidFill>
                  <a:srgbClr val="000000"/>
                </a:solidFill>
                <a:latin typeface="Canva Sans"/>
              </a:rPr>
              <a:t>•  The limb is segmented, the ghost surface removed, the cut plane found at the marker band, and the survivor turned into a closed mesh.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200" b="0">
                <a:solidFill>
                  <a:srgbClr val="000000"/>
                </a:solidFill>
                <a:latin typeface="Canva Sans"/>
              </a:rPr>
              <a:t>•  Output: the volume that mesh encloses, integrated exactly — and a statement of whether it is one closed solid, so the number can be trusted or refused.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8700" y="81534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83058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Seven stages. Two of them stop and wait for a person: the framing verdict, and the cut plane.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3 · SMOOTHING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How MLS works, in four steps</a:t>
            </a:r>
          </a:p>
        </p:txBody>
      </p:sp>
      <p:pic>
        <p:nvPicPr>
          <p:cNvPr id="3" name="Picture 2" descr="mls_how_it_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213" y="2209800"/>
            <a:ext cx="8899573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28700" y="92964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94488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Moving Least Squares. Each point is re-fitted against its own neighbours — collect them inside a radius, take a local frame from their spread, fit height as a curved function of position, and move the point onto that surface.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5 · THE REPAIR STAGE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The stage meant to fix this was doing half its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400300"/>
            <a:ext cx="70000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workers/meshfix_worker.py called pymeshfix.fill_holes() and nothing else.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fill_holes closes the boundary but leaves self-intersections and non-manifold edges — watertight, and still not a solid.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repair() removes those too. Every Poisson mesh had been arriving at Stage 6 closed and topologically wrong, and Poisson was blamed for it.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5A5A5A"/>
                </a:solidFill>
                <a:latin typeface="Canva Sans"/>
              </a:rPr>
              <a:t>•  Cost of the fix to the reported volume: 0.005% — 1069.56 → 1069.61 cm³. Alpha-shape meshes are byte-identical either way; they arrive closed, so Stage 5 is a no-op on them.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15400" y="2590800"/>
          <a:ext cx="8344199" cy="3962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70771"/>
                <a:gridCol w="1986714"/>
                <a:gridCol w="1986714"/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Canva Sans Bold"/>
                        </a:rPr>
                        <a:t>χ after Stage 5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Canva Sans Bold"/>
                        </a:rPr>
                        <a:t>fill_holes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Canva Sans Bold"/>
                        </a:rPr>
                        <a:t>repair()</a:t>
                      </a:r>
                    </a:p>
                  </a:txBody>
                  <a:tcPr anchor="ctr" marL="91440" marR="91440"/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small_leg · reference cube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30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small_leg · limb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22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short_leg · reference cube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10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short_leg · limb (uncut, with foot)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14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−16</a:t>
                      </a:r>
                    </a:p>
                  </a:txBody>
                  <a:tcPr anchor="ctr" marL="91440" marR="91440"/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48-config sweep, χ = 2 on both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0 of 48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nva Sans"/>
                        </a:rPr>
                        <a:t>38 of 46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28700" y="86868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88392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5A5A5A"/>
                </a:solidFill>
                <a:latin typeface="Canva Sans"/>
              </a:rPr>
              <a:t>The reported volume moves 0.005% when Stage 5 is fixed — 1069.56 to 1069.61 cm³. What changes is the topology, not the shape.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STAGE 4 · WHAT SHIPS NOW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Poisson everywhere, alpha shape as the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400300"/>
            <a:ext cx="70000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Poisson fits the points 1.8× closer on small_leg and 10× closer on short_leg.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It is insensitive to its own parameters: twelve depth/trim combinations span 0.32% of limb volume. trim &gt; 0 is required — every trim = 0 run gives χ = 4.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What it costs, stated plainly: Poisson has no genus guarantee. On short_leg it closes at χ = −18, about ten handles, and reads 22% below the alpha answer.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000" b="0">
                <a:solidFill>
                  <a:srgbClr val="000000"/>
                </a:solidFill>
                <a:latin typeface="Canva Sans"/>
              </a:rPr>
              <a:t>•  So Stage 5 now checks χ, and any object that does not reach 2 is reconstructed again with alpha shape. Verified firing on short_leg and not firing on small_leg.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15400" y="2590800"/>
          <a:ext cx="8344200" cy="4160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6750"/>
                <a:gridCol w="1460235"/>
                <a:gridCol w="973490"/>
                <a:gridCol w="973490"/>
                <a:gridCol w="1460235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>small_leg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>limb cm³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>box χ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>limb χ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>p95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alpha / alpha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1081.94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2.39 mm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alpha cube + Poisson limb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1070.85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1.30 mm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Poisson / Poisson  ← ships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1074.32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1.30 mm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short_leg · no cut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/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/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/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/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alpha / alpha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2763.24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21.80 mm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Poisson / Poisson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2146.39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−18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2.19 mm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28700" y="86868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88392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C06300"/>
                </a:solidFill>
                <a:latin typeface="Canva Sans"/>
              </a:rPr>
              <a:t>short_leg is the honest counter-example: no band means no cut, so the object is the whole foot — toes, arch, the gap under the instep. Genuine topology — and the reason the fallback exists.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RESULTS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Where the numbers stand, on inputs/small_leg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2590800"/>
          <a:ext cx="9144000" cy="4160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4720"/>
                <a:gridCol w="2286000"/>
                <a:gridCol w="338328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/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>main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Canva Sans Bold"/>
                        </a:rPr>
                        <a:t>current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wall clock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136.7 s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80 s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capture validation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none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5 pass, 1 warn, 0 reject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marker colour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hardcoded khaki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measured per capture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reference mesh watertight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no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yes, χ = 2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volume method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warp+floodfill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watertight — same code</a:t>
                      </a:r>
                    </a:p>
                  </a:txBody>
                  <a:tcPr anchor="ctr" marL="91440" marR="91440"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limb volume, cm³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1073.98 (flooded)</a:t>
                      </a:r>
                    </a:p>
                  </a:txBody>
                  <a:tcPr anchor="ctr" marL="91440" marR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nva Sans"/>
                        </a:rPr>
                        <a:t>1074.32 (integrated)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515600" y="2590800"/>
            <a:ext cx="6743700" cy="699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900" b="0">
                <a:solidFill>
                  <a:srgbClr val="C06300"/>
                </a:solidFill>
                <a:latin typeface="Canva Sans"/>
              </a:rPr>
              <a:t>•  The reference cube reports exactly 2744.00 cm³ on every run. That is an identity, not an accuracy result: scale is derived as (real / mesh)^(1/3) from that same cube, so it can never disagree with itself.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The watertight row is the one that matters. main's reference mesh never closes, so its volume cannot be integrated — it is flooded, and a flood leaks through any hole without saying so.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000000"/>
                </a:solidFill>
                <a:latin typeface="Canva Sans"/>
              </a:rPr>
              <a:t>•  The current tree searches until the mesh closes and χ = 2, then integrates the surface exactly.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C06300"/>
                </a:solidFill>
                <a:latin typeface="Canva Sans"/>
              </a:rPr>
              <a:t>•  Stage 6 is main's code, byte for byte — 618 added lines, all comments. Its first tier was always the exact signed volume; main never reached it because its meshes were open. The improvement is upstream.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5A5A5A"/>
                </a:solidFill>
                <a:latin typeface="Canva Sans"/>
              </a:rPr>
              <a:t>•  The two limb figures agreeing to 0.03% is not evidence of anything: one is a flood fill of a mesh with holes, the other an exact integral. They are not the same measurement.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800100"/>
            <a:ext cx="16230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5A5A5A"/>
                </a:solidFill>
                <a:latin typeface="Canva Sans Bold"/>
              </a:rPr>
              <a:t>WHAT IS NOT KNOWN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3600" b="1">
                <a:solidFill>
                  <a:srgbClr val="000000"/>
                </a:solidFill>
                <a:latin typeface="Canva Sans Bold"/>
              </a:rPr>
              <a:t>The limits, stated before someone else states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400300"/>
            <a:ext cx="16230600" cy="718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•  There is no ground truth for the limb. Nothing in this deck is an accuracy measurement against a known volume.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•  est_325's 325 ml is a fill volume, not external displacement, so it does not settle the error target either.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•  Poisson has no genus guarantee, and short_leg shows what that looks like: χ = −18 on an uncut foot, where toes and the gap under the instep are genuine topological complexity rather than a defect.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•  Both Poisson successes are the same capture. Whether it holds on a cut limb from a second capture is untested.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•  Stage 0's two new thresholds — a band at most 0.35 of the limb, seen in at least 0.6 of the frames — have been tested on one banded capture only.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8700" y="8153400"/>
            <a:ext cx="16230600" cy="127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8305800"/>
            <a:ext cx="16230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100" b="0">
                <a:solidFill>
                  <a:srgbClr val="000000"/>
                </a:solidFill>
                <a:latin typeface="Canva Sans"/>
              </a:rPr>
              <a:t>Next: a second banded capture, to test the fallback on a cut limb and the two Stage 0 thresholds on something other than the capture they were written for.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DAHTHLINrlg</dc:identifier>
  <dcterms:modified xsi:type="dcterms:W3CDTF">2011-08-01T06:04:30Z</dcterms:modified>
  <cp:revision>1</cp:revision>
  <dc:title>senior meeting 24 aug</dc:title>
</cp:coreProperties>
</file>